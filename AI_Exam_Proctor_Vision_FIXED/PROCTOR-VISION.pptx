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IBM Plex Sans" panose="020F0502020204030204" pitchFamily="34" charset="0"/>
      <p:regular r:id="rId11"/>
    </p:embeddedFont>
    <p:embeddedFont>
      <p:font typeface="IBM Plex Sans SemiBold" panose="020F0502020204030204" pitchFamily="34" charset="0"/>
      <p:regular r:id="rId12"/>
    </p:embeddedFont>
    <p:embeddedFont>
      <p:font typeface="Space Grotesk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416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project title and frame the system as an AI-powered examination integrity and attention analytics workflow. Motion guidance: fade in the title plate, then draw on the camera frame and landmark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system: observe the webcam stream, interpret the scene, score sustained anomalies, and document the session. Motion guidance: reveal each timeline node in sequence, then draw the connectors.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parallel read of the scene. Face Landmarker supplies facial geometry and state; Object Detector identifies people and mobile phones; signal fusion creates one monitoring state. Motion guidance: appear the two branches together, then draw both into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rules make behavior reviewable rather than mysterious. Each event has a threshold or condition, a severity, rate limiting, and a risk weight that contributes to the running score. Motion guidance: use restrained emphasis on the amber severity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evidence is created at the moment risk rises, not reconstructed later. The log carries the decision fields, severe events save a local frame, and the timeline connects the event to the evidence. Motion guidance: draw the connector from detection through the snapshot into the reviewer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product loop. The live monitor supports the session, analytics organize the signals, and CSV export preserves the history for follow-up. Motion guidance: fade in the three destinations, then draw the loop through monitoring, review, and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end-to-end value: real-time monitoring surfaces risk early, explainable rules make each incident reviewable, evidence is captured at the moment risk rises, and the session report supports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0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0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736600"/>
            <a:ext cx="5968851" cy="5334000"/>
          </a:xfrm>
          <a:prstGeom prst="roundRect">
            <a:avLst>
              <a:gd name="adj" fmla="val 571"/>
            </a:avLst>
          </a:prstGeom>
          <a:solidFill>
            <a:srgbClr val="101B26"/>
          </a:solidFill>
          <a:ln w="6350">
            <a:solidFill>
              <a:srgbClr val="55B8FF"/>
            </a:solidFill>
            <a:prstDash val="solid"/>
          </a:ln>
          <a:effectLst>
            <a:outerShdw blurRad="55880" dist="127" dir="16200000" algn="bl" rotWithShape="0">
              <a:srgbClr val="39D7A3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098523" y="1496020"/>
            <a:ext cx="5092573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000" b="1" kern="100" spc="-9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PROCTOR VISION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098523" y="3206353"/>
            <a:ext cx="3411948" cy="31651"/>
          </a:xfrm>
          <a:prstGeom prst="roundRect">
            <a:avLst>
              <a:gd name="adj" fmla="val 49998"/>
            </a:avLst>
          </a:prstGeom>
          <a:solidFill>
            <a:srgbClr val="A8BA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8523" y="3656568"/>
            <a:ext cx="5092573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AI-POWERED EXAMINATION INTEGRITY AND ATTENTION ANALYTICS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8523" y="4327366"/>
            <a:ext cx="570215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HARISH S · LOGIN360 · 27/10/2026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1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55B8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END-TO-END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5387"/>
            <a:ext cx="10972526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66" dirty="0">
                <a:solidFill>
                  <a:srgbClr val="F2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FROM WEBCAM FRAMES TO AN INTEGRITY SIGNAL</a:t>
            </a:r>
            <a:endParaRPr lang="en-US" sz="4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558455"/>
            <a:ext cx="507987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270607"/>
            <a:ext cx="5333867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CAPTURE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585" y="3653155"/>
            <a:ext cx="533386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Live video from the webcam.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2558455"/>
            <a:ext cx="507987" cy="50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48244" y="3270607"/>
            <a:ext cx="5333867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ANALYZE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248244" y="3653155"/>
            <a:ext cx="533386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Faces, attention, eye state, and nearby objects.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237335"/>
            <a:ext cx="507987" cy="508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585" y="4949488"/>
            <a:ext cx="5333867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SCORE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09585" y="5332035"/>
            <a:ext cx="533386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Sustained anomalies become scored incidents.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4" y="4237335"/>
            <a:ext cx="507987" cy="508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48244" y="4949488"/>
            <a:ext cx="5333867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DOCUMENT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248244" y="5332035"/>
            <a:ext cx="533386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Evidence is stored and the session is summarized.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09585" y="603889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A8BAC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Overall process: observe → interpret → score → document.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10"/>
            <a:ext cx="682230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55B8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MODEL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5387"/>
            <a:ext cx="6212724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66" dirty="0">
                <a:solidFill>
                  <a:srgbClr val="F2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TWO AI MODELS READ THE SCENE IN PARALLEL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387203"/>
            <a:ext cx="4162519" cy="31651"/>
          </a:xfrm>
          <a:prstGeom prst="roundRect">
            <a:avLst>
              <a:gd name="adj" fmla="val 49998"/>
            </a:avLst>
          </a:prstGeom>
          <a:solidFill>
            <a:srgbClr val="A8BA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9585" y="2652316"/>
            <a:ext cx="6212724" cy="3639641"/>
          </a:xfrm>
          <a:prstGeom prst="rect">
            <a:avLst/>
          </a:prstGeom>
          <a:solidFill>
            <a:srgbClr val="101B26"/>
          </a:solidFill>
          <a:ln w="6350">
            <a:solidFill>
              <a:srgbClr val="263949"/>
            </a:solidFill>
            <a:prstDash val="solid"/>
          </a:ln>
          <a:effectLst>
            <a:outerShdw blurRad="127" dist="8890" dir="5400000" algn="bl" rotWithShape="0">
              <a:srgbClr val="55B8F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35" y="2658666"/>
            <a:ext cx="40639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5935" y="3205718"/>
            <a:ext cx="2947616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FACE LANDMARKER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5935" y="3588266"/>
            <a:ext cx="294761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Detects up to five faces and tracks landmarks for face presence, eye closure, and head direction.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343" y="2658666"/>
            <a:ext cx="40639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68343" y="3205718"/>
            <a:ext cx="2947616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OBJECT DETECTOR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868343" y="3588266"/>
            <a:ext cx="294761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Identifies people and mobile phones from the live frame.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35" y="5025827"/>
            <a:ext cx="406390" cy="406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5935" y="5572879"/>
            <a:ext cx="6200025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SIGNAL FUSION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15935" y="5955427"/>
            <a:ext cx="620002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Combines the detections into a single monitoring state.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888983" y="1164729"/>
            <a:ext cx="3174921" cy="4572000"/>
          </a:xfrm>
          <a:prstGeom prst="rect">
            <a:avLst/>
          </a:prstGeom>
          <a:noFill/>
          <a:ln w="6350">
            <a:solidFill>
              <a:srgbClr val="39D7A3"/>
            </a:solidFill>
            <a:prstDash val="solid"/>
          </a:ln>
          <a:effectLst>
            <a:outerShdw blurRad="74930" dist="127" dir="16200000" algn="bl" rotWithShape="0">
              <a:srgbClr val="39D7A3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5333" y="1171079"/>
            <a:ext cx="3162221" cy="4559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1021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55B8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EXPLAINABLE INCIDENT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42187"/>
            <a:ext cx="10972526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66" dirty="0">
                <a:solidFill>
                  <a:srgbClr val="F2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RULES TURN BEHAVIOR INTO EXPLAINABLE INCIDENTS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184003"/>
            <a:ext cx="7351429" cy="31651"/>
          </a:xfrm>
          <a:prstGeom prst="roundRect">
            <a:avLst>
              <a:gd name="adj" fmla="val 49998"/>
            </a:avLst>
          </a:prstGeom>
          <a:solidFill>
            <a:srgbClr val="A8BA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9585" y="2449116"/>
            <a:ext cx="10972526" cy="2735461"/>
          </a:xfrm>
          <a:prstGeom prst="rect">
            <a:avLst/>
          </a:prstGeom>
          <a:solidFill>
            <a:srgbClr val="101B26"/>
          </a:solidFill>
          <a:ln w="6350">
            <a:solidFill>
              <a:srgbClr val="263949"/>
            </a:solidFill>
            <a:prstDash val="solid"/>
          </a:ln>
          <a:effectLst>
            <a:outerShdw blurRad="127" dist="8890" dir="5400000" algn="bl" rotWithShape="0">
              <a:srgbClr val="55B8F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35" y="2455466"/>
            <a:ext cx="40639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5935" y="3002518"/>
            <a:ext cx="5327517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HIGH SEVERITY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5935" y="3385066"/>
            <a:ext cx="532751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B84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Missing face for more than 2.5 seconds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2455466"/>
            <a:ext cx="40639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48244" y="3002518"/>
            <a:ext cx="5327517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CRITICAL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248244" y="3385066"/>
            <a:ext cx="532751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B84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Multiple faces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35" y="3969246"/>
            <a:ext cx="406390" cy="406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5935" y="4516299"/>
            <a:ext cx="5327517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CRITICAL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15935" y="4898846"/>
            <a:ext cx="532751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B84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Mobile phone detected</a:t>
            </a:r>
            <a:endParaRPr lang="en-US" sz="16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4" y="3969246"/>
            <a:ext cx="406390" cy="406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48244" y="4516299"/>
            <a:ext cx="5327517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MEDIUM SEVERITY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6248244" y="4898846"/>
            <a:ext cx="532751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Looking away or prolonged eye closure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609585" y="5425480"/>
            <a:ext cx="3555911" cy="1026120"/>
          </a:xfrm>
          <a:prstGeom prst="roundRect">
            <a:avLst>
              <a:gd name="adj" fmla="val 49999"/>
            </a:avLst>
          </a:prstGeom>
          <a:solidFill>
            <a:srgbClr val="FFB84D"/>
          </a:solidFill>
          <a:ln/>
          <a:effectLst>
            <a:outerShdw blurRad="74930" dist="127" dir="16200000" algn="bl" rotWithShape="0">
              <a:srgbClr val="FFB84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838179" y="5657890"/>
            <a:ext cx="332731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RISK WEIGHT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470288" y="5425480"/>
            <a:ext cx="7111822" cy="1026120"/>
          </a:xfrm>
          <a:prstGeom prst="roundRect">
            <a:avLst>
              <a:gd name="adj" fmla="val 2228"/>
            </a:avLst>
          </a:prstGeom>
          <a:solidFill>
            <a:srgbClr val="39D7A3"/>
          </a:solidFill>
          <a:ln/>
          <a:effectLst>
            <a:outerShdw blurRad="74930" dist="127" dir="16200000" algn="bl" rotWithShape="0">
              <a:srgbClr val="39D7A3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/>
          <p:nvPr/>
        </p:nvSpPr>
        <p:spPr>
          <a:xfrm>
            <a:off x="4698882" y="5659160"/>
            <a:ext cx="665463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Each event is rate-limited, assigned a risk weight, and added to the running risk score.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10"/>
            <a:ext cx="682230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55B8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TRACEABLE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5387"/>
            <a:ext cx="6212724" cy="184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66" dirty="0">
                <a:solidFill>
                  <a:srgbClr val="F2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EVIDENCE IS CAPTURED AT THE MOMENT RISK RISES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3001863"/>
            <a:ext cx="4162519" cy="31651"/>
          </a:xfrm>
          <a:prstGeom prst="roundRect">
            <a:avLst>
              <a:gd name="adj" fmla="val 49998"/>
            </a:avLst>
          </a:prstGeom>
          <a:solidFill>
            <a:srgbClr val="A8BA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9585" y="3266976"/>
            <a:ext cx="6212724" cy="3078163"/>
          </a:xfrm>
          <a:prstGeom prst="rect">
            <a:avLst/>
          </a:prstGeom>
          <a:solidFill>
            <a:srgbClr val="101B26"/>
          </a:solidFill>
          <a:ln w="6350">
            <a:solidFill>
              <a:srgbClr val="263949"/>
            </a:solidFill>
            <a:prstDash val="solid"/>
          </a:ln>
          <a:effectLst>
            <a:outerShdw blurRad="127" dist="8890" dir="5400000" algn="bl" rotWithShape="0">
              <a:srgbClr val="55B8F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5935" y="3273326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9D7A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5935" y="3557786"/>
            <a:ext cx="1321263" cy="19050"/>
          </a:xfrm>
          <a:prstGeom prst="rect">
            <a:avLst/>
          </a:prstGeom>
          <a:solidFill>
            <a:srgbClr val="39D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5935" y="3718679"/>
            <a:ext cx="1321362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DETECTION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5935" y="4101227"/>
            <a:ext cx="1321362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Risk rises from a detected event.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42089" y="3273326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9D7A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2089" y="3557786"/>
            <a:ext cx="1321461" cy="19050"/>
          </a:xfrm>
          <a:prstGeom prst="rect">
            <a:avLst/>
          </a:prstGeom>
          <a:solidFill>
            <a:srgbClr val="39D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42089" y="3718679"/>
            <a:ext cx="1321461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EVENT LOG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42089" y="4101227"/>
            <a:ext cx="1321461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Time, event name, severity, risk, details, and snapshot path are recorded.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68343" y="3273326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9D7A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68343" y="3557786"/>
            <a:ext cx="1321263" cy="19050"/>
          </a:xfrm>
          <a:prstGeom prst="rect">
            <a:avLst/>
          </a:prstGeom>
          <a:solidFill>
            <a:srgbClr val="39D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68343" y="3718679"/>
            <a:ext cx="1321362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EVIDENCE SNAPSHOT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68343" y="4352647"/>
            <a:ext cx="1321362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High- and critical-severity incidents save a frame to the local evidence gallery.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94498" y="3273326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9D7A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94498" y="3557786"/>
            <a:ext cx="1321461" cy="19050"/>
          </a:xfrm>
          <a:prstGeom prst="rect">
            <a:avLst/>
          </a:prstGeom>
          <a:solidFill>
            <a:srgbClr val="39D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94498" y="3718679"/>
            <a:ext cx="1321461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REVIEWER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94498" y="4352647"/>
            <a:ext cx="1321461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Each decision stays traceable for review.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888983" y="1143000"/>
            <a:ext cx="3174921" cy="4572000"/>
          </a:xfrm>
          <a:prstGeom prst="roundRect">
            <a:avLst>
              <a:gd name="adj" fmla="val 720"/>
            </a:avLst>
          </a:prstGeom>
          <a:solidFill>
            <a:srgbClr val="39D7A3"/>
          </a:solidFill>
          <a:ln w="6350">
            <a:solidFill>
              <a:srgbClr val="55B8FF"/>
            </a:solidFill>
            <a:prstDash val="solid"/>
          </a:ln>
          <a:effectLst>
            <a:outerShdw blurRad="74930" dist="127" dir="16200000" algn="bl" rotWithShape="0">
              <a:srgbClr val="39D7A3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333" y="1149350"/>
            <a:ext cx="3162221" cy="4559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6210"/>
            <a:ext cx="682230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55B8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SESSION TO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488187"/>
            <a:ext cx="6212724" cy="184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66" dirty="0">
                <a:solidFill>
                  <a:srgbClr val="F2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ONE SESSION BECOMES A REVIEWABLE EXAM REPORT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544663"/>
            <a:ext cx="4162519" cy="31651"/>
          </a:xfrm>
          <a:prstGeom prst="roundRect">
            <a:avLst>
              <a:gd name="adj" fmla="val 49998"/>
            </a:avLst>
          </a:prstGeom>
          <a:solidFill>
            <a:srgbClr val="A8BA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9585" y="2809776"/>
            <a:ext cx="6212724" cy="2359521"/>
          </a:xfrm>
          <a:prstGeom prst="rect">
            <a:avLst/>
          </a:prstGeom>
          <a:solidFill>
            <a:srgbClr val="101B26"/>
          </a:solidFill>
          <a:ln w="6350">
            <a:solidFill>
              <a:srgbClr val="263949"/>
            </a:solidFill>
            <a:prstDash val="solid"/>
          </a:ln>
          <a:effectLst>
            <a:outerShdw blurRad="127" dist="8890" dir="5400000" algn="bl" rotWithShape="0">
              <a:srgbClr val="55B8F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35" y="2816126"/>
            <a:ext cx="40639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5935" y="3363178"/>
            <a:ext cx="186348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LIVE MONITOR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5935" y="3745726"/>
            <a:ext cx="186348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Camera feed, integrity score, attention state, eye state, and event count.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4207" y="2816126"/>
            <a:ext cx="40639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84207" y="3363178"/>
            <a:ext cx="186348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ANALYTICS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784207" y="3745726"/>
            <a:ext cx="1863480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Face presence, attention, current integrity, and incident breakdown.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479" y="2816126"/>
            <a:ext cx="406390" cy="406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52479" y="3363178"/>
            <a:ext cx="186348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EXPORT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952479" y="3745726"/>
            <a:ext cx="1863480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 CSV report preserves the session history for follow-up.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09585" y="5742980"/>
            <a:ext cx="1969244" cy="1038820"/>
          </a:xfrm>
          <a:prstGeom prst="roundRect">
            <a:avLst>
              <a:gd name="adj" fmla="val 2201"/>
            </a:avLst>
          </a:prstGeom>
          <a:solidFill>
            <a:srgbClr val="39D7A3"/>
          </a:solidFill>
          <a:ln/>
          <a:effectLst>
            <a:outerShdw blurRad="74930" dist="127" dir="16200000" algn="bl" rotWithShape="0">
              <a:srgbClr val="39D7A3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838179" y="5975390"/>
            <a:ext cx="174065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PRODUCT LOOP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883622" y="5742980"/>
            <a:ext cx="3938687" cy="1038820"/>
          </a:xfrm>
          <a:prstGeom prst="rect">
            <a:avLst/>
          </a:prstGeom>
          <a:solidFill>
            <a:srgbClr val="101B26"/>
          </a:solidFill>
          <a:ln w="6350">
            <a:solidFill>
              <a:srgbClr val="263949"/>
            </a:solidFill>
            <a:prstDash val="solid"/>
          </a:ln>
          <a:effectLst>
            <a:outerShdw blurRad="127" dist="8890" dir="5400000" algn="bl" rotWithShape="0">
              <a:srgbClr val="55B8F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3118566" y="5983010"/>
            <a:ext cx="346879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Monitor in real time → review evidence → export the record.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888983" y="1143000"/>
            <a:ext cx="3174921" cy="4572000"/>
          </a:xfrm>
          <a:prstGeom prst="roundRect">
            <a:avLst>
              <a:gd name="adj" fmla="val 720"/>
            </a:avLst>
          </a:prstGeom>
          <a:solidFill>
            <a:srgbClr val="39D7A3"/>
          </a:solidFill>
          <a:ln w="6350">
            <a:solidFill>
              <a:srgbClr val="263949"/>
            </a:solidFill>
            <a:prstDash val="solid"/>
          </a:ln>
          <a:effectLst>
            <a:outerShdw blurRad="74930" dist="127" dir="16200000" algn="bl" rotWithShape="0">
              <a:srgbClr val="39D7A3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5333" y="1149350"/>
            <a:ext cx="3162221" cy="4559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1021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55B8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42187"/>
            <a:ext cx="10972526" cy="184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66" dirty="0">
                <a:solidFill>
                  <a:srgbClr val="F2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REAL-TIME MONITORING TURNS EXAM PROCTORING INTO EXPLAINABLE, EVIDENCE-BACKED REVIEW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798663"/>
            <a:ext cx="7351429" cy="31651"/>
          </a:xfrm>
          <a:prstGeom prst="roundRect">
            <a:avLst>
              <a:gd name="adj" fmla="val 49998"/>
            </a:avLst>
          </a:prstGeom>
          <a:solidFill>
            <a:srgbClr val="A8BA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9585" y="3063776"/>
            <a:ext cx="10972526" cy="1549301"/>
          </a:xfrm>
          <a:prstGeom prst="rect">
            <a:avLst/>
          </a:prstGeom>
          <a:solidFill>
            <a:srgbClr val="101B26"/>
          </a:solidFill>
          <a:ln w="6350">
            <a:solidFill>
              <a:srgbClr val="263949"/>
            </a:solidFill>
            <a:prstDash val="solid"/>
          </a:ln>
          <a:effectLst>
            <a:outerShdw blurRad="127" dist="8890" dir="5400000" algn="bl" rotWithShape="0">
              <a:srgbClr val="55B8F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5935" y="3070126"/>
            <a:ext cx="73152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9D7A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5935" y="3375878"/>
            <a:ext cx="2511362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MONITOR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5935" y="3758426"/>
            <a:ext cx="251136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Live webcam analysis flags risk as it rises.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32089" y="3070126"/>
            <a:ext cx="73152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9D7A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32089" y="3375878"/>
            <a:ext cx="2511362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EXPLAIN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32089" y="3758426"/>
            <a:ext cx="251136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Rules turn each behavior into a scored, traceable incident.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48244" y="3070126"/>
            <a:ext cx="73152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9D7A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48244" y="3375878"/>
            <a:ext cx="2511362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EVIDENCE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48244" y="3758426"/>
            <a:ext cx="251136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Snapshots are captured at the moment risk changes.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64398" y="3070126"/>
            <a:ext cx="73152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9D7A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64398" y="3375878"/>
            <a:ext cx="2511362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2F7F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REVIEW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64398" y="3758426"/>
            <a:ext cx="251136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Each session becomes a clear, exportable exam report.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585" y="5425480"/>
            <a:ext cx="10972526" cy="1026120"/>
          </a:xfrm>
          <a:prstGeom prst="roundRect">
            <a:avLst>
              <a:gd name="adj" fmla="val 2228"/>
            </a:avLst>
          </a:prstGeom>
          <a:solidFill>
            <a:srgbClr val="39D7A3"/>
          </a:solidFill>
          <a:ln/>
          <a:effectLst>
            <a:outerShdw blurRad="74930" dist="127" dir="16200000" algn="bl" rotWithShape="0">
              <a:srgbClr val="39D7A3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8179" y="5659160"/>
            <a:ext cx="1051533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Real-time signals, explainable scoring, and reviewable records work together to support fair, accountable integrity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497773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55B8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PROCTOR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866033"/>
            <a:ext cx="10972526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000" b="1" kern="100" spc="-90" dirty="0">
                <a:solidFill>
                  <a:srgbClr val="F2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THANK YOU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609585" y="3814366"/>
            <a:ext cx="7351429" cy="31651"/>
          </a:xfrm>
          <a:prstGeom prst="roundRect">
            <a:avLst>
              <a:gd name="adj" fmla="val 49998"/>
            </a:avLst>
          </a:prstGeom>
          <a:solidFill>
            <a:srgbClr val="A8BA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09585" y="4084558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F7F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Questions and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718</Words>
  <Application>Microsoft Office PowerPoint</Application>
  <PresentationFormat>Widescreen</PresentationFormat>
  <Paragraphs>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Space Grotesk Bold</vt:lpstr>
      <vt:lpstr>Arial</vt:lpstr>
      <vt:lpstr>IBM Plex Sans SemiBold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S0338557</cp:lastModifiedBy>
  <cp:revision>2</cp:revision>
  <dcterms:created xsi:type="dcterms:W3CDTF">2026-10-24T15:39:40Z</dcterms:created>
  <dcterms:modified xsi:type="dcterms:W3CDTF">2026-10-24T15:48:44Z</dcterms:modified>
</cp:coreProperties>
</file>